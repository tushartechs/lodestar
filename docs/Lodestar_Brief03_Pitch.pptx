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c06c3ac-644d-a6a5-e4b7-e3b2787d9b8b}">
          <p14:sldIdLst>
            <p14:sldId id="256"/>
          </p14:sldIdLst>
        </p14:section>
        <p14:section name="Pitch" id="{722cca09-1b0d-d318-8cba-7cf59d619387}">
          <p14:sldIdLst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(about 20 seconds). I'm Tushar, team Lodestar, Brief 03: predict mini-grid demand before building. Lodestar gives mini-grid developers and their lenders a demand forecast with a bankable range, from open data, before anyone builds. Each following slide answers one judging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(about 1 minute). 217,000 mini-grids are needed for 490 million people, and every one is sized on a guess: surveys miss individual demand by 65%. We forecast two real metered village mini-grids in DR Congo from open data only, without their meters: actual demand fell inside our P90-P10 range in 5 of 6 site-years. Replaying that real demand, a desk estimate would have oversized one site by 37%; our build-at-P50-then-expand plan by 6%. Right-sizing on P50 instead of the optimistic case cuts the cost of power by about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Innovation (about 1 minute). Today a developer gets one day-one number. We borrow P50/P90 energy-yield reports from solar project finance and apply them to demand: connections times consumption, month by month, as a calibrated range. Two more ideas from other industries: a Demand Bureau where operators share meter aggregates like banks share credit data, and a public ledger that registers every forecast before the site is built, like weather-forecast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Sustainability (about 1 minute). Households never pay. Our first customers are developers bidding into results-based-financing programmes like Nigeria's DARES: their head is most on fire and they own the meters. They pay $300 per bankable report; financing programmes subscribe for portfolio screening; lenders follow once our track record builds. Running cost is near zero: open data, under a second of compute per forecast, so about 200 reports a year covers a two-person team. Environmentally, right-sizing avoids stranded panels and batteries, and backup diesel when systems are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Feasibility and scalability (about 1 minute), then close. It is live at lodestar-utfz.onrender.com with 20 villages in Nigeria, Kenya and DR Congo, a lender memo, a HOMER load export, SMS and USSD access, and a public track record. Honest risk: only three public metered sites exist, so the first step is backtesting operators' historical meters. Path: 10 pre-registered sites with developers bidding into DARES, then one RBF programme, then five countries. Our ask: 2-3 operators to share meter data and one RBF programme as pilot partner. Lodestar makes demand bankable, so the next 200,000 mini-grids get built at the right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[Solution name]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hackathon.anneru.com  ·  Oct 30 – Nov 1, 2026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iterion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[Slide headline]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3"/>
                </a:solidFill>
              </a:rPr>
              <a:t>GLOBAL ENERGY HACKATHON  ·  PITCH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GLOBAL ENERGY HACKATHON 2026  ·  INNOVATIVE &amp; AFFORDABLE SOLUTIONS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Lodestar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Bankable demand forecasts that tell mini-grid developers and their lenders how much power a village will use, before anyone builds.</a:t>
            </a:r>
            <a:endParaRPr lang="en-US" sz="2000" dirty="0"/>
          </a:p>
        </p:txBody>
      </p:sp>
      <p:sp>
        <p:nvSpPr>
          <p:cNvPr id="5" name="Brief chip"/>
          <p:cNvSpPr/>
          <p:nvPr/>
        </p:nvSpPr>
        <p:spPr>
          <a:xfrm>
            <a:off x="64008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0467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BRIEF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03 · Predict mini-grid demand before building</a:t>
            </a:r>
            <a:endParaRPr lang="en-US" sz="1000" dirty="0"/>
          </a:p>
        </p:txBody>
      </p:sp>
      <p:sp>
        <p:nvSpPr>
          <p:cNvPr id="7" name="Track chip"/>
          <p:cNvSpPr/>
          <p:nvPr/>
        </p:nvSpPr>
        <p:spPr>
          <a:xfrm>
            <a:off x="333756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0215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TRACK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 · Digital Solutions &amp; AI</a:t>
            </a:r>
            <a:endParaRPr lang="en-US" sz="1000" dirty="0"/>
          </a:p>
        </p:txBody>
      </p:sp>
      <p:sp>
        <p:nvSpPr>
          <p:cNvPr id="9" name="Team chip"/>
          <p:cNvSpPr/>
          <p:nvPr/>
        </p:nvSpPr>
        <p:spPr>
          <a:xfrm>
            <a:off x="603504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19963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Tushar Agarwal · product, data and engineering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HOW THIS PITCH IS SCORED</a:t>
            </a:r>
            <a:endParaRPr lang="en-US" sz="1100" dirty="0"/>
          </a:p>
        </p:txBody>
      </p:sp>
      <p:sp>
        <p:nvSpPr>
          <p:cNvPr id="12" name="Impact roadmap item"/>
          <p:cNvSpPr/>
          <p:nvPr/>
        </p:nvSpPr>
        <p:spPr>
          <a:xfrm>
            <a:off x="9052560" y="1691640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235440" y="1691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Impact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835640" y="16916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5" name="Innovation roadmap item"/>
          <p:cNvSpPr/>
          <p:nvPr/>
        </p:nvSpPr>
        <p:spPr>
          <a:xfrm>
            <a:off x="9052560" y="2404872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235440" y="2404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Innovation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240487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8" name="Sustainability roadmap item"/>
          <p:cNvSpPr/>
          <p:nvPr/>
        </p:nvSpPr>
        <p:spPr>
          <a:xfrm>
            <a:off x="9052560" y="3118104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235440" y="31181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Sustainability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835640" y="31181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21" name="Feasibility roadmap item"/>
          <p:cNvSpPr/>
          <p:nvPr/>
        </p:nvSpPr>
        <p:spPr>
          <a:xfrm>
            <a:off x="9052560" y="3831336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235440" y="38313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Feasibility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835640" y="383133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15%</a:t>
            </a:r>
            <a:endParaRPr lang="en-US" sz="1500" dirty="0"/>
          </a:p>
        </p:txBody>
      </p:sp>
      <p:sp>
        <p:nvSpPr>
          <p:cNvPr id="24" name="Scalability roadmap item"/>
          <p:cNvSpPr/>
          <p:nvPr/>
        </p:nvSpPr>
        <p:spPr>
          <a:xfrm>
            <a:off x="9052560" y="4544568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235440" y="45445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Scalability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835640" y="454456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10%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mpac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IMPACT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Villages get mini-grids sized to real demand</a:t>
            </a:r>
            <a:endParaRPr lang="en-US" sz="3600" dirty="0"/>
          </a:p>
        </p:txBody>
      </p:sp>
      <p:sp>
        <p:nvSpPr>
          <p:cNvPr id="6" name="Problem card"/>
          <p:cNvSpPr/>
          <p:nvPr/>
        </p:nvSpPr>
        <p:spPr>
          <a:xfrm>
            <a:off x="548640" y="1645920"/>
            <a:ext cx="4754880" cy="37947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8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751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4297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490 million people need the 217,000 mini-grids still to be built (ESMAP). Each is sized before a single customer exists, so developers guess demand: oversize and tariffs price villagers out; undersize and they get evening brownouts.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"Survey-based estimates miss individual customers' demand by 65%." (CrossBoundary Innovation Lab)</a:t>
            </a:r>
            <a:endParaRPr lang="en-US" sz="1600" dirty="0"/>
          </a:p>
        </p:txBody>
      </p:sp>
      <p:sp>
        <p:nvSpPr>
          <p:cNvPr id="11" name="Stat 1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2" name="Stat 1 outline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897880" y="164592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16459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site-years of real metered demand inside our range, forecast from open data with no site meters (DR Congo)</a:t>
            </a:r>
            <a:endParaRPr lang="en-US" sz="1400" dirty="0"/>
          </a:p>
        </p:txBody>
      </p:sp>
      <p:sp>
        <p:nvSpPr>
          <p:cNvPr id="15" name="Stat 2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6" name="Stat 2 outline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897880" y="2944368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 → +6%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944368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year-3 oversizing at a metered site: desk estimate vs Lodestar plan (72% less mismatch)</a:t>
            </a:r>
            <a:endParaRPr lang="en-US" sz="1400" dirty="0"/>
          </a:p>
        </p:txBody>
      </p:sp>
      <p:sp>
        <p:nvSpPr>
          <p:cNvPr id="19" name="Stat 3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0" name="Stat 3 outline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5897880" y="4242816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−49%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242816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 of power when sized on P50 instead of the optimistic case (avg. of 20 villages)</a:t>
            </a:r>
            <a:endParaRPr lang="en-US" sz="1400" dirty="0"/>
          </a:p>
        </p:txBody>
      </p:sp>
      <p:sp>
        <p:nvSpPr>
          <p:cNvPr id="23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4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On real meters, demand landed inside our range in 5 of 6 site-years, and right-sizing roughly halves the cost of power.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nnovat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INNOVATION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P90 for demand, borrowed from solar finance</a:t>
            </a:r>
            <a:endParaRPr lang="en-US" sz="3600" dirty="0"/>
          </a:p>
        </p:txBody>
      </p:sp>
      <p:sp>
        <p:nvSpPr>
          <p:cNvPr id="6" name="Today card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TODAY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Surveys or flat benchmarks give one day-one number: no range, no growth, never checked against meters. Lenders cannot price a guess.</a:t>
            </a:r>
            <a:endParaRPr lang="en-US" sz="1500" dirty="0"/>
          </a:p>
        </p:txBody>
      </p:sp>
      <p:sp>
        <p:nvSpPr>
          <p:cNvPr id="9" name="Our approach card"/>
          <p:cNvSpPr/>
          <p:nvPr/>
        </p:nvSpPr>
        <p:spPr>
          <a:xfrm>
            <a:off x="438912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6177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OUR APPROACH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We forecast connections × consumption month by month with a calibrated P90/P50/P10 range, like a solar yield report, validated on real meters.</a:t>
            </a:r>
            <a:endParaRPr lang="en-US" sz="1500" dirty="0"/>
          </a:p>
        </p:txBody>
      </p:sp>
      <p:sp>
        <p:nvSpPr>
          <p:cNvPr id="12" name="Root cause card"/>
          <p:cNvSpPr/>
          <p:nvPr/>
        </p:nvSpPr>
        <p:spPr>
          <a:xfrm>
            <a:off x="8229600" y="1645920"/>
            <a:ext cx="3410712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845820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726" y="191932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006840" y="1828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ROOT CAUSE WE ADDRESS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defensible demand number before building, so sites are mis-sized or never financed.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8" name="Step 1 number"/>
          <p:cNvSpPr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123444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any village: building footprints and OpenStreetMap give customers and anchors</a:t>
            </a:r>
            <a:endParaRPr lang="en-US" sz="1500" dirty="0"/>
          </a:p>
        </p:txBody>
      </p:sp>
      <p:sp>
        <p:nvSpPr>
          <p:cNvPr id="21" name="Arrow 1"/>
          <p:cNvSpPr/>
          <p:nvPr/>
        </p:nvSpPr>
        <p:spPr>
          <a:xfrm>
            <a:off x="393192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2" name="Step 2 number"/>
          <p:cNvSpPr/>
          <p:nvPr/>
        </p:nvSpPr>
        <p:spPr>
          <a:xfrm>
            <a:off x="434340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434340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20,000 growth scenarios give P90/P50/P10 for 5 years, explained in plain words</a:t>
            </a:r>
            <a:endParaRPr lang="en-US" sz="1500" dirty="0"/>
          </a:p>
        </p:txBody>
      </p:sp>
      <p:sp>
        <p:nvSpPr>
          <p:cNvPr id="25" name="Arrow 2"/>
          <p:cNvSpPr/>
          <p:nvPr/>
        </p:nvSpPr>
        <p:spPr>
          <a:xfrm>
            <a:off x="772668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6" name="Step 3 number"/>
          <p:cNvSpPr/>
          <p:nvPr/>
        </p:nvSpPr>
        <p:spPr>
          <a:xfrm>
            <a:off x="813816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813816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82396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Size the system, stress-test the loan; shared meters sharpen it (Demand Bureau)</a:t>
            </a:r>
            <a:endParaRPr lang="en-US" sz="1500" dirty="0"/>
          </a:p>
        </p:txBody>
      </p:sp>
      <p:sp>
        <p:nvSpPr>
          <p:cNvPr id="29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0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A calibrated range, a growth curve and a lender view, validated on meters: none of the open tools we found do all four.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Sustainability &amp; afforda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SUSTAINABILITY &amp; AFFORDABILITY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to villages, pays for itself at scale</a:t>
            </a:r>
            <a:endParaRPr lang="en-US" sz="3600" dirty="0"/>
          </a:p>
        </p:txBody>
      </p:sp>
      <p:sp>
        <p:nvSpPr>
          <p:cNvPr id="6" name="Cost callout card"/>
          <p:cNvSpPr/>
          <p:nvPr/>
        </p:nvSpPr>
        <p:spPr>
          <a:xfrm>
            <a:off x="548640" y="1645920"/>
            <a:ext cx="3566160" cy="37947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COST TO THE USER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 month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 households. Developers pay $300 per site report: 0.05% of a ~$585k mini-grid.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PAYBACK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 reports/yr</a:t>
            </a:r>
            <a:endParaRPr lang="en-US" sz="2400" dirty="0"/>
          </a:p>
        </p:txBody>
      </p:sp>
      <p:sp>
        <p:nvSpPr>
          <p:cNvPr id="12" name="WHO PAYS card"/>
          <p:cNvSpPr/>
          <p:nvPr/>
        </p:nvSpPr>
        <p:spPr>
          <a:xfrm>
            <a:off x="43891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46177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46" y="196504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PAYS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First: developers bidding into results-based financing, per report. Next: RBF programmes, $12k/yr screening. Later: lenders.</a:t>
            </a:r>
            <a:endParaRPr lang="en-US" sz="1400" dirty="0"/>
          </a:p>
        </p:txBody>
      </p:sp>
      <p:sp>
        <p:nvSpPr>
          <p:cNvPr id="17" name="HOW IT PAYS FOR ITSELF card"/>
          <p:cNvSpPr/>
          <p:nvPr/>
        </p:nvSpPr>
        <p:spPr>
          <a:xfrm>
            <a:off x="80467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8" name="Icon circle"/>
          <p:cNvSpPr/>
          <p:nvPr/>
        </p:nvSpPr>
        <p:spPr>
          <a:xfrm>
            <a:off x="82753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9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6" y="1965046"/>
            <a:ext cx="230429" cy="23042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HOW IT PAYS FOR ITSELF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753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data, 0.76 CPU-s per forecast. Break-even ~200 reports/yr: 3% of 6,116 planned sites (AMDA). No grant to run.</a:t>
            </a:r>
            <a:endParaRPr lang="en-US" sz="1400" dirty="0"/>
          </a:p>
        </p:txBody>
      </p:sp>
      <p:sp>
        <p:nvSpPr>
          <p:cNvPr id="22" name="WHO KEEPS IT RUNNING card"/>
          <p:cNvSpPr/>
          <p:nvPr/>
        </p:nvSpPr>
        <p:spPr>
          <a:xfrm>
            <a:off x="43891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3" name="Icon circle"/>
          <p:cNvSpPr/>
          <p:nvPr/>
        </p:nvSpPr>
        <p:spPr>
          <a:xfrm>
            <a:off x="46177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4" name="Icon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246" y="3912718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663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KEEPS IT RUNNING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analysts in Nairobi or Lagos; Python on a laptop, no API keys; quarterly re-fit on Bureau meter data.</a:t>
            </a:r>
            <a:endParaRPr lang="en-US" sz="1400" dirty="0"/>
          </a:p>
        </p:txBody>
      </p:sp>
      <p:sp>
        <p:nvSpPr>
          <p:cNvPr id="27" name="ENVIRONMENTAL BENEFIT card"/>
          <p:cNvSpPr/>
          <p:nvPr/>
        </p:nvSpPr>
        <p:spPr>
          <a:xfrm>
            <a:off x="80467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8" name="Icon circle"/>
          <p:cNvSpPr/>
          <p:nvPr/>
        </p:nvSpPr>
        <p:spPr>
          <a:xfrm>
            <a:off x="82753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9" name="Icon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846" y="3912718"/>
            <a:ext cx="230429" cy="230429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239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ENVIRONMENTAL BENEFIT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82753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stranded panels and batteries (desk plan oversized 61 kWp at one site, ours 9) and less backup diesel.</a:t>
            </a:r>
            <a:endParaRPr lang="en-US" sz="1400" dirty="0"/>
          </a:p>
        </p:txBody>
      </p:sp>
      <p:sp>
        <p:nvSpPr>
          <p:cNvPr id="32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3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Free for villagers, under a second of compute per forecast, and self-funding at about 200 paid reports a year.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Feasi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FEASIBILITY  ·  15%     +     SCALABILITY  ·  10%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today, validated on real meters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343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EVIDENCE IT WORKS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DRC meters: demand in range 5 of 6 site-years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HOMER export; open licences; aggregate-only data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Risk: 3 metered sites → backtest operators first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PATH TO SCALE</a:t>
            </a:r>
            <a:endParaRPr lang="en-US" sz="1200" dirty="0"/>
          </a:p>
        </p:txBody>
      </p:sp>
      <p:sp>
        <p:nvSpPr>
          <p:cNvPr id="12" name="PILOT card"/>
          <p:cNvSpPr/>
          <p:nvPr/>
        </p:nvSpPr>
        <p:spPr>
          <a:xfrm>
            <a:off x="4937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120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PILOT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Nigeria: 10 sites with developers bidding into DARES</a:t>
            </a:r>
            <a:endParaRPr lang="en-US" sz="1400" dirty="0"/>
          </a:p>
        </p:txBody>
      </p:sp>
      <p:sp>
        <p:nvSpPr>
          <p:cNvPr id="15" name="Scale arrow"/>
          <p:cNvSpPr/>
          <p:nvPr/>
        </p:nvSpPr>
        <p:spPr>
          <a:xfrm>
            <a:off x="7059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6" name="EXPAND card"/>
          <p:cNvSpPr/>
          <p:nvPr/>
        </p:nvSpPr>
        <p:spPr>
          <a:xfrm>
            <a:off x="7223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7406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EXPAND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 on meters; one RBF programme; Kenya next</a:t>
            </a:r>
            <a:endParaRPr lang="en-US" sz="1400" dirty="0"/>
          </a:p>
        </p:txBody>
      </p:sp>
      <p:sp>
        <p:nvSpPr>
          <p:cNvPr id="19" name="Scale arrow"/>
          <p:cNvSpPr/>
          <p:nvPr/>
        </p:nvSpPr>
        <p:spPr>
          <a:xfrm>
            <a:off x="9345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0" name="SCALE card"/>
          <p:cNvSpPr/>
          <p:nvPr/>
        </p:nvSpPr>
        <p:spPr>
          <a:xfrm>
            <a:off x="9509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9692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SCALE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92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5 countries via the Bureau; ~1 CPU-s per site</a:t>
            </a:r>
            <a:endParaRPr lang="en-US" sz="1400" dirty="0"/>
          </a:p>
        </p:txBody>
      </p:sp>
      <p:sp>
        <p:nvSpPr>
          <p:cNvPr id="23" name="Our ask card"/>
          <p:cNvSpPr/>
          <p:nvPr/>
        </p:nvSpPr>
        <p:spPr>
          <a:xfrm>
            <a:off x="4937760" y="3840480"/>
            <a:ext cx="6702552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Icon circle"/>
          <p:cNvSpPr/>
          <p:nvPr/>
        </p:nvSpPr>
        <p:spPr>
          <a:xfrm>
            <a:off x="5166360" y="40690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5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416966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6072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OUR ASK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166360" y="4663440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mini-grid operators to share historical meter data, and one RBF programme as pilot partner. Live: lodestar-utfz.onrender.com</a:t>
            </a:r>
            <a:endParaRPr lang="en-US" sz="1600" dirty="0"/>
          </a:p>
        </p:txBody>
      </p:sp>
      <p:sp>
        <p:nvSpPr>
          <p:cNvPr id="28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9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Live today on real data; the next step is a 10-site pilot with developers bidding into Nigeria's DARES programme.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30" name="Prototype screenshot" descr="Lodestar app: Mutwanga year-3 forecast with P90-P10 band and the real metered demand 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45920"/>
            <a:ext cx="4023360" cy="24697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lobal Energy Hackathon">
  <a:themeElements>
    <a:clrScheme name="Global Energy Hackathon">
      <a:dk1>
        <a:srgbClr val="1A2233"/>
      </a:dk1>
      <a:lt1>
        <a:srgbClr val="FFFFFF"/>
      </a:lt1>
      <a:dk2>
        <a:srgbClr val="081124"/>
      </a:dk2>
      <a:lt2>
        <a:srgbClr val="F2F5FB"/>
      </a:lt2>
      <a:accent1>
        <a:srgbClr val="E02D3C"/>
      </a:accent1>
      <a:accent2>
        <a:srgbClr val="1B315C"/>
      </a:accent2>
      <a:accent3>
        <a:srgbClr val="5A6478"/>
      </a:accent3>
      <a:accent4>
        <a:srgbClr val="C9D3E6"/>
      </a:accent4>
      <a:accent5>
        <a:srgbClr val="F2B134"/>
      </a:accent5>
      <a:accent6>
        <a:srgbClr val="2E8B57"/>
      </a:accent6>
      <a:hlink>
        <a:srgbClr val="1B315C"/>
      </a:hlink>
      <a:folHlink>
        <a:srgbClr val="5A6478"/>
      </a:folHlink>
    </a:clrScheme>
    <a:fontScheme name="Global Energy Hackath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Energy Hackathon Pitch Template</dc:title>
  <dc:subject>PptxGenJS Presentation</dc:subject>
  <dc:creator>Tasha A. McCarter</dc:creator>
  <cp:lastModifiedBy>Tasha A. McCarter</cp:lastModifiedBy>
  <cp:revision>1</cp:revision>
  <dcterms:created xsi:type="dcterms:W3CDTF">2026-10-25T22:45:11Z</dcterms:created>
  <dcterms:modified xsi:type="dcterms:W3CDTF">2026-10-25T22:45:11Z</dcterms:modified>
</cp:coreProperties>
</file>