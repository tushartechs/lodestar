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c06c3ac-644d-a6a5-e4b7-e3b2787d9b8b}">
          <p14:sldIdLst>
            <p14:sldId id="256"/>
          </p14:sldIdLst>
        </p14:section>
        <p14:section name="Pitch" id="{722cca09-1b0d-d318-8cba-7cf59d619387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Title. I'm Tushar, team Lodestar, Brief 03. Lodestar tells mini-grid developers and their lenders how much power a village will use, as a range they can bank on, before anyone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Impact. 490 million people need 217,000 mini-grids, and every one is sized on a guess: surveys miss what a customer uses by 65%. Too big and tariffs price villagers out; too small and evenings go dark. On two real metered mini-grids in DR Congo, forecast without their meters, real demand landed inside our range in 5 of 6 years. A desk estimate oversized one site by 37%; our plan by 6%. Building for likely demand instead of the optimistic case roughly halves the cost of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Innovation. Today a developer gets one number. We give a probabilistic range, as solar finance does for sunshine: a safe level demand beats 9 times in 10, the likely level, and the upside, month by month for five years. Click a village; satellite buildings and OpenStreetMap count customers; 20,000 scenarios give the range; then size the system and stress-test the loan. Operators' meters sharpen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Sustainability. Villagers never pay. Developers pay $300 per site report, 0.05% of a mini-grid; funders pay $12k a year to screen portfolios; lenders follow later. Running costs are about $60k a year, so 3 funder subscriptions and about 80 reports break even: 6 to 8 customers. The market: 6,116 sites planned by AMDA members, 1,000+ in Nigeria's DARES alone, 217,000 needed by 2030. Right-sizing also avoids stranded panels and diesel.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Feasibility and scale. Lodestar is live, tested on real meters, and exports to HOMER. The risk is few public meters, so we test on operators' data first. Pilot: 10 sites with DARES developers in Nigeria, then one funder and Kenya, then 5 countries at about $30k a year each. Our ask: 2 to 3 operators' meter data and one RBF programme. In return they get tighter forecasts, which means cheaper debt, peer benchmarks and free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[Team name]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[Solution name]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hackathon.anneru.com  ·  Oct 30 – Nov 1, 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iterion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[Slide headline]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3"/>
                </a:solidFill>
              </a:rPr>
              <a:t>GLOBAL ENERGY HACKATHON  ·  PITCH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GLOBAL ENERGY HACKATHON 2026  ·  INNOVATIVE &amp; AFFORDABLE SOLUTIONS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Lodestar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Bankable demand forecasts that tell mini-grid developers and their lenders how much power a village will use, before anyone builds.</a:t>
            </a:r>
            <a:endParaRPr lang="en-US" sz="2000" dirty="0"/>
          </a:p>
        </p:txBody>
      </p:sp>
      <p:sp>
        <p:nvSpPr>
          <p:cNvPr id="5" name="Brief chip"/>
          <p:cNvSpPr/>
          <p:nvPr/>
        </p:nvSpPr>
        <p:spPr>
          <a:xfrm>
            <a:off x="640080" y="4434840"/>
            <a:ext cx="251460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04672" y="4526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BRIEF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03 · Predict mini-grid demand before building</a:t>
            </a:r>
            <a:endParaRPr lang="en-US" sz="1000" dirty="0"/>
          </a:p>
        </p:txBody>
      </p:sp>
      <p:sp>
        <p:nvSpPr>
          <p:cNvPr id="7" name="Track chip"/>
          <p:cNvSpPr/>
          <p:nvPr/>
        </p:nvSpPr>
        <p:spPr>
          <a:xfrm>
            <a:off x="3337560" y="4434840"/>
            <a:ext cx="251460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02152" y="4526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TRACK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 · Digital Solutions &amp; AI</a:t>
            </a:r>
            <a:endParaRPr lang="en-US" sz="1000" dirty="0"/>
          </a:p>
        </p:txBody>
      </p:sp>
      <p:sp>
        <p:nvSpPr>
          <p:cNvPr id="9" name="Team chip"/>
          <p:cNvSpPr/>
          <p:nvPr/>
        </p:nvSpPr>
        <p:spPr>
          <a:xfrm>
            <a:off x="6035040" y="4434840"/>
            <a:ext cx="251460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199632" y="4526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TEAM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Tushar Agarwal · product, data and engineering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HOW THIS PITCH IS SCORED</a:t>
            </a:r>
            <a:endParaRPr lang="en-US" sz="1100" dirty="0"/>
          </a:p>
        </p:txBody>
      </p:sp>
      <p:sp>
        <p:nvSpPr>
          <p:cNvPr id="12" name="Impact roadmap item"/>
          <p:cNvSpPr/>
          <p:nvPr/>
        </p:nvSpPr>
        <p:spPr>
          <a:xfrm>
            <a:off x="9052560" y="1691640"/>
            <a:ext cx="26517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235440" y="16916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Impact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835640" y="16916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25%</a:t>
            </a:r>
            <a:endParaRPr lang="en-US" sz="1500" dirty="0"/>
          </a:p>
        </p:txBody>
      </p:sp>
      <p:sp>
        <p:nvSpPr>
          <p:cNvPr id="15" name="Innovation roadmap item"/>
          <p:cNvSpPr/>
          <p:nvPr/>
        </p:nvSpPr>
        <p:spPr>
          <a:xfrm>
            <a:off x="9052560" y="2404872"/>
            <a:ext cx="26517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235440" y="24048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Innovation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835640" y="240487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25%</a:t>
            </a:r>
            <a:endParaRPr lang="en-US" sz="1500" dirty="0"/>
          </a:p>
        </p:txBody>
      </p:sp>
      <p:sp>
        <p:nvSpPr>
          <p:cNvPr id="18" name="Sustainability roadmap item"/>
          <p:cNvSpPr/>
          <p:nvPr/>
        </p:nvSpPr>
        <p:spPr>
          <a:xfrm>
            <a:off x="9052560" y="3118104"/>
            <a:ext cx="26517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235440" y="31181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Sustainability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835640" y="311810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25%</a:t>
            </a:r>
            <a:endParaRPr lang="en-US" sz="1500" dirty="0"/>
          </a:p>
        </p:txBody>
      </p:sp>
      <p:sp>
        <p:nvSpPr>
          <p:cNvPr id="21" name="Feasibility roadmap item"/>
          <p:cNvSpPr/>
          <p:nvPr/>
        </p:nvSpPr>
        <p:spPr>
          <a:xfrm>
            <a:off x="9052560" y="3831336"/>
            <a:ext cx="26517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9235440" y="38313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Feasibility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835640" y="383133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15%</a:t>
            </a:r>
            <a:endParaRPr lang="en-US" sz="1500" dirty="0"/>
          </a:p>
        </p:txBody>
      </p:sp>
      <p:sp>
        <p:nvSpPr>
          <p:cNvPr id="24" name="Scalability roadmap item"/>
          <p:cNvSpPr/>
          <p:nvPr/>
        </p:nvSpPr>
        <p:spPr>
          <a:xfrm>
            <a:off x="9052560" y="4544568"/>
            <a:ext cx="26517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9235440" y="45445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Scalability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835640" y="45445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10%</a:t>
            </a:r>
            <a:endParaRPr lang="en-US" sz="1500" dirty="0"/>
          </a:p>
        </p:txBody>
      </p:sp>
      <p:pic>
        <p:nvPicPr>
          <p:cNvPr id="27" name="Lodestar logo" descr="Lodestar logo: a guiding star over a forecast b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iterion icon circl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3" name="Criterion icon" descr="Impac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38328"/>
            <a:ext cx="201168" cy="201168"/>
          </a:xfrm>
          <a:prstGeom prst="rect">
            <a:avLst/>
          </a:prstGeom>
        </p:spPr>
      </p:pic>
      <p:sp>
        <p:nvSpPr>
          <p:cNvPr id="4" name="Criterion label"/>
          <p:cNvSpPr txBox="1"/>
          <p:nvPr/>
        </p:nvSpPr>
        <p:spPr>
          <a:xfrm>
            <a:off x="969264" y="2743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IMPACT  ·  25% OF SCORE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mini-grid is sized on a guess about demand</a:t>
            </a:r>
            <a:endParaRPr lang="en-US" sz="3600" dirty="0"/>
          </a:p>
        </p:txBody>
      </p:sp>
      <p:sp>
        <p:nvSpPr>
          <p:cNvPr id="6" name="Problem card"/>
          <p:cNvSpPr/>
          <p:nvPr/>
        </p:nvSpPr>
        <p:spPr>
          <a:xfrm>
            <a:off x="548640" y="1645920"/>
            <a:ext cx="4754880" cy="3794760"/>
          </a:xfrm>
          <a:prstGeom prst="roundRect">
            <a:avLst>
              <a:gd name="adj" fmla="val 241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7" name="Icon circle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p/>
        </p:txBody>
      </p:sp>
      <p:pic>
        <p:nvPicPr>
          <p:cNvPr id="8" name="Icon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9751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5603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490 million people need the 217,000 mini-grids still to be built (ESMAP). Each is sized before anyone connects. Too big, and tariffs price villagers out. Too small, and evenings go dark.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"Survey-based estimates miss individual customers' demand by 65%." (CrossBoundary Innovation Lab)</a:t>
            </a:r>
            <a:endParaRPr lang="en-US" sz="1600" dirty="0"/>
          </a:p>
        </p:txBody>
      </p:sp>
      <p:sp>
        <p:nvSpPr>
          <p:cNvPr id="11" name="Stat 1"/>
          <p:cNvSpPr/>
          <p:nvPr/>
        </p:nvSpPr>
        <p:spPr>
          <a:xfrm>
            <a:off x="5669280" y="1645920"/>
            <a:ext cx="597103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12" name="Stat 1 outline"/>
          <p:cNvSpPr/>
          <p:nvPr/>
        </p:nvSpPr>
        <p:spPr>
          <a:xfrm>
            <a:off x="5669280" y="1645920"/>
            <a:ext cx="5971032" cy="1143000"/>
          </a:xfrm>
          <a:prstGeom prst="roundRect">
            <a:avLst>
              <a:gd name="adj" fmla="val 8000"/>
            </a:avLst>
          </a:prstGeom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5897880" y="164592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6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8641080" y="16459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years where real metered demand landed inside our forecast range (DR Congo, forecast without the site's meters)</a:t>
            </a:r>
            <a:endParaRPr lang="en-US" sz="1400" dirty="0"/>
          </a:p>
        </p:txBody>
      </p:sp>
      <p:sp>
        <p:nvSpPr>
          <p:cNvPr id="15" name="Stat 2"/>
          <p:cNvSpPr/>
          <p:nvPr/>
        </p:nvSpPr>
        <p:spPr>
          <a:xfrm>
            <a:off x="5669280" y="2944368"/>
            <a:ext cx="597103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16" name="Stat 2 outline"/>
          <p:cNvSpPr/>
          <p:nvPr/>
        </p:nvSpPr>
        <p:spPr>
          <a:xfrm>
            <a:off x="5669280" y="2944368"/>
            <a:ext cx="5971032" cy="1143000"/>
          </a:xfrm>
          <a:prstGeom prst="roundRect">
            <a:avLst>
              <a:gd name="adj" fmla="val 8000"/>
            </a:avLst>
          </a:prstGeom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5897880" y="294436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+37% → +6%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8641080" y="294436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oversizing at a real site: today's desk estimate vs Lodestar's plan</a:t>
            </a:r>
            <a:endParaRPr lang="en-US" sz="1400" dirty="0"/>
          </a:p>
        </p:txBody>
      </p:sp>
      <p:sp>
        <p:nvSpPr>
          <p:cNvPr id="19" name="Stat 3"/>
          <p:cNvSpPr/>
          <p:nvPr/>
        </p:nvSpPr>
        <p:spPr>
          <a:xfrm>
            <a:off x="5669280" y="4242816"/>
            <a:ext cx="597103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20" name="Stat 3 outline"/>
          <p:cNvSpPr/>
          <p:nvPr/>
        </p:nvSpPr>
        <p:spPr>
          <a:xfrm>
            <a:off x="5669280" y="4242816"/>
            <a:ext cx="5971032" cy="1143000"/>
          </a:xfrm>
          <a:prstGeom prst="roundRect">
            <a:avLst>
              <a:gd name="adj" fmla="val 8000"/>
            </a:avLst>
          </a:prstGeom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5897880" y="4242816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−48%</a:t>
            </a:r>
            <a:endParaRPr lang="en-US" sz="3200" dirty="0"/>
          </a:p>
        </p:txBody>
      </p:sp>
      <p:sp>
        <p:nvSpPr>
          <p:cNvPr id="22" name="Text 18"/>
          <p:cNvSpPr txBox="1"/>
          <p:nvPr/>
        </p:nvSpPr>
        <p:spPr>
          <a:xfrm>
            <a:off x="8641080" y="4242816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 of power when built for likely demand, not the optimistic case (20 villages)</a:t>
            </a:r>
            <a:endParaRPr lang="en-US" sz="1400" dirty="0"/>
          </a:p>
        </p:txBody>
      </p:sp>
      <p:sp>
        <p:nvSpPr>
          <p:cNvPr id="23" name="Judges look for box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4" name="Bottom line text"/>
          <p:cNvSpPr txBox="1"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Bottom line: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Tested on real meters: demand landed in our range 5 of 6 times, and right-sizing roughly halves the cost of power.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iterion icon circl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3" name="Criterion icon" descr="Innovat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38328"/>
            <a:ext cx="201168" cy="201168"/>
          </a:xfrm>
          <a:prstGeom prst="rect">
            <a:avLst/>
          </a:prstGeom>
        </p:spPr>
      </p:pic>
      <p:sp>
        <p:nvSpPr>
          <p:cNvPr id="4" name="Criterion label"/>
          <p:cNvSpPr txBox="1"/>
          <p:nvPr/>
        </p:nvSpPr>
        <p:spPr>
          <a:xfrm>
            <a:off x="969264" y="2743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INNOVATION  ·  25% OF SCORE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forecast demand as a range lenders can bank on</a:t>
            </a:r>
            <a:endParaRPr lang="en-US" sz="3600" dirty="0"/>
          </a:p>
        </p:txBody>
      </p:sp>
      <p:sp>
        <p:nvSpPr>
          <p:cNvPr id="6" name="Today card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724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TODAY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7627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day-one number from a survey or benchmark: no range, no growth, never checked against meters.</a:t>
            </a:r>
            <a:endParaRPr lang="en-US" sz="1500" dirty="0"/>
          </a:p>
        </p:txBody>
      </p:sp>
      <p:sp>
        <p:nvSpPr>
          <p:cNvPr id="9" name="Our approach card"/>
          <p:cNvSpPr/>
          <p:nvPr/>
        </p:nvSpPr>
        <p:spPr>
          <a:xfrm>
            <a:off x="4389120" y="164592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61772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OUR APPROACH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17627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probabilistic range, month by month: a safe level demand beats 9 times in 10, the likely level, and the upside.</a:t>
            </a:r>
            <a:endParaRPr lang="en-US" sz="1500" dirty="0"/>
          </a:p>
        </p:txBody>
      </p:sp>
      <p:sp>
        <p:nvSpPr>
          <p:cNvPr id="12" name="Root cause card"/>
          <p:cNvSpPr/>
          <p:nvPr/>
        </p:nvSpPr>
        <p:spPr>
          <a:xfrm>
            <a:off x="8229600" y="1645920"/>
            <a:ext cx="341071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3" name="Icon circle"/>
          <p:cNvSpPr/>
          <p:nvPr/>
        </p:nvSpPr>
        <p:spPr>
          <a:xfrm>
            <a:off x="8458200" y="182880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p/>
        </p:txBody>
      </p:sp>
      <p:pic>
        <p:nvPicPr>
          <p:cNvPr id="14" name="Icon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726" y="1919326"/>
            <a:ext cx="230429" cy="23042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0068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ROOT CAUSE WE ADDRESS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458200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trusted demand number before building, so sites are mis-sized or never financed.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8" name="Step 1 number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9" name="Text 15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234440" y="4434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Click a village: satellite buildings and OpenStreetMap count customers</a:t>
            </a:r>
            <a:endParaRPr lang="en-US" sz="1500" dirty="0"/>
          </a:p>
        </p:txBody>
      </p:sp>
      <p:sp>
        <p:nvSpPr>
          <p:cNvPr id="21" name="Arrow 1"/>
          <p:cNvSpPr/>
          <p:nvPr/>
        </p:nvSpPr>
        <p:spPr>
          <a:xfrm>
            <a:off x="3931920" y="4572000"/>
            <a:ext cx="32004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22" name="Step 2 number"/>
          <p:cNvSpPr/>
          <p:nvPr/>
        </p:nvSpPr>
        <p:spPr>
          <a:xfrm>
            <a:off x="434340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43434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5029200" y="4434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20,000 growth scenarios give a five-year range, in plain words</a:t>
            </a:r>
            <a:endParaRPr lang="en-US" sz="1500" dirty="0"/>
          </a:p>
        </p:txBody>
      </p:sp>
      <p:sp>
        <p:nvSpPr>
          <p:cNvPr id="25" name="Arrow 2"/>
          <p:cNvSpPr/>
          <p:nvPr/>
        </p:nvSpPr>
        <p:spPr>
          <a:xfrm>
            <a:off x="7726680" y="4572000"/>
            <a:ext cx="32004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26" name="Step 3 number"/>
          <p:cNvSpPr/>
          <p:nvPr/>
        </p:nvSpPr>
        <p:spPr>
          <a:xfrm>
            <a:off x="813816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7" name="Text 23"/>
          <p:cNvSpPr txBox="1"/>
          <p:nvPr/>
        </p:nvSpPr>
        <p:spPr>
          <a:xfrm>
            <a:off x="81381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8823960" y="4434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Size the system, stress-test the loan; operators' meters sharpen it</a:t>
            </a:r>
            <a:endParaRPr lang="en-US" sz="1500" dirty="0"/>
          </a:p>
        </p:txBody>
      </p:sp>
      <p:sp>
        <p:nvSpPr>
          <p:cNvPr id="29" name="Judges look for box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0" name="Bottom line text"/>
          <p:cNvSpPr txBox="1"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Bottom line: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A range instead of a guess, with growth over time and a lender view, tested on real meters.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iterion icon circl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3" name="Criterion icon" descr="Sustainability &amp; affordabilit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38328"/>
            <a:ext cx="201168" cy="201168"/>
          </a:xfrm>
          <a:prstGeom prst="rect">
            <a:avLst/>
          </a:prstGeom>
        </p:spPr>
      </p:pic>
      <p:sp>
        <p:nvSpPr>
          <p:cNvPr id="4" name="Criterion label"/>
          <p:cNvSpPr txBox="1"/>
          <p:nvPr/>
        </p:nvSpPr>
        <p:spPr>
          <a:xfrm>
            <a:off x="969264" y="2743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SUSTAINABILITY &amp; AFFORDABILITY  ·  25% OF SCORE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Villagers pay nothing; developers and funders do</a:t>
            </a:r>
            <a:endParaRPr lang="en-US" sz="3600" dirty="0"/>
          </a:p>
        </p:txBody>
      </p:sp>
      <p:sp>
        <p:nvSpPr>
          <p:cNvPr id="6" name="Cost callout card"/>
          <p:cNvSpPr/>
          <p:nvPr/>
        </p:nvSpPr>
        <p:spPr>
          <a:xfrm>
            <a:off x="548640" y="1645920"/>
            <a:ext cx="3566160" cy="379476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72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COST TO THE USER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for households. A developer pays $300 per site report: 0.05% of a ~$585k mini-grid.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BREAK-EVEN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 customers</a:t>
            </a:r>
            <a:endParaRPr lang="en-US" sz="2400" dirty="0"/>
          </a:p>
        </p:txBody>
      </p:sp>
      <p:sp>
        <p:nvSpPr>
          <p:cNvPr id="12" name="WHO PAYS card"/>
          <p:cNvSpPr/>
          <p:nvPr/>
        </p:nvSpPr>
        <p:spPr>
          <a:xfrm>
            <a:off x="4389120" y="1645920"/>
            <a:ext cx="3593592" cy="1847088"/>
          </a:xfrm>
          <a:prstGeom prst="roundRect">
            <a:avLst>
              <a:gd name="adj" fmla="val 495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3" name="Icon circle"/>
          <p:cNvSpPr/>
          <p:nvPr/>
        </p:nvSpPr>
        <p:spPr>
          <a:xfrm>
            <a:off x="4617720" y="18745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p/>
        </p:txBody>
      </p:sp>
      <p:pic>
        <p:nvPicPr>
          <p:cNvPr id="14" name="Icon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246" y="1965046"/>
            <a:ext cx="230429" cy="23042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6636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WHO PAYS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2423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Developers: $300 per site report. Funders (RBF programmes, DFIs): $12k/yr to screen portfolios. Lenders: later, per loan file.</a:t>
            </a:r>
            <a:endParaRPr lang="en-US" sz="1400" dirty="0"/>
          </a:p>
        </p:txBody>
      </p:sp>
      <p:sp>
        <p:nvSpPr>
          <p:cNvPr id="17" name="HOW IT PAYS FOR ITSELF card"/>
          <p:cNvSpPr/>
          <p:nvPr/>
        </p:nvSpPr>
        <p:spPr>
          <a:xfrm>
            <a:off x="8046720" y="1645920"/>
            <a:ext cx="3593592" cy="1847088"/>
          </a:xfrm>
          <a:prstGeom prst="roundRect">
            <a:avLst>
              <a:gd name="adj" fmla="val 495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8" name="Icon circle"/>
          <p:cNvSpPr/>
          <p:nvPr/>
        </p:nvSpPr>
        <p:spPr>
          <a:xfrm>
            <a:off x="8275320" y="18745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p/>
        </p:txBody>
      </p:sp>
      <p:pic>
        <p:nvPicPr>
          <p:cNvPr id="19" name="Icon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46" y="1965046"/>
            <a:ext cx="230429" cy="23042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2396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HOW IT PAYS FOR ITSELF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423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Costs ~$60k/yr (two analysts, one server). Covered by 3 funder subscriptions + ~80 reports, e.g. 3–5 developers.</a:t>
            </a:r>
            <a:endParaRPr lang="en-US" sz="1400" dirty="0"/>
          </a:p>
        </p:txBody>
      </p:sp>
      <p:sp>
        <p:nvSpPr>
          <p:cNvPr id="22" name="WHO KEEPS IT RUNNING card"/>
          <p:cNvSpPr/>
          <p:nvPr/>
        </p:nvSpPr>
        <p:spPr>
          <a:xfrm>
            <a:off x="4389120" y="3593592"/>
            <a:ext cx="3593592" cy="1847088"/>
          </a:xfrm>
          <a:prstGeom prst="roundRect">
            <a:avLst>
              <a:gd name="adj" fmla="val 495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3" name="Icon circle"/>
          <p:cNvSpPr/>
          <p:nvPr/>
        </p:nvSpPr>
        <p:spPr>
          <a:xfrm>
            <a:off x="4617720" y="3822192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p/>
        </p:txBody>
      </p:sp>
      <p:pic>
        <p:nvPicPr>
          <p:cNvPr id="24" name="Icon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246" y="3912718"/>
            <a:ext cx="230429" cy="23042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166360" y="38221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MARKET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617720" y="437083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AMDA members plan 6,116 sites (≈$1.8M in reports). Nigeria's DARES alone: 1,000+. Needed by 2030: 217,000.</a:t>
            </a:r>
            <a:endParaRPr lang="en-US" sz="1400" dirty="0"/>
          </a:p>
        </p:txBody>
      </p:sp>
      <p:sp>
        <p:nvSpPr>
          <p:cNvPr id="27" name="ENVIRONMENTAL BENEFIT card"/>
          <p:cNvSpPr/>
          <p:nvPr/>
        </p:nvSpPr>
        <p:spPr>
          <a:xfrm>
            <a:off x="8046720" y="3593592"/>
            <a:ext cx="3593592" cy="1847088"/>
          </a:xfrm>
          <a:prstGeom prst="roundRect">
            <a:avLst>
              <a:gd name="adj" fmla="val 495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8" name="Icon circle"/>
          <p:cNvSpPr/>
          <p:nvPr/>
        </p:nvSpPr>
        <p:spPr>
          <a:xfrm>
            <a:off x="8275320" y="3822192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p/>
        </p:txBody>
      </p:sp>
      <p:pic>
        <p:nvPicPr>
          <p:cNvPr id="29" name="Icon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846" y="3912718"/>
            <a:ext cx="230429" cy="23042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823960" y="38221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ENVIRONMENTAL BENEFIT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8275320" y="437083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stranded panels and batteries (desk plan oversized a real site by 61 kWp, ours by 9) and less backup diesel.</a:t>
            </a:r>
            <a:endParaRPr lang="en-US" sz="1400" dirty="0"/>
          </a:p>
        </p:txBody>
      </p:sp>
      <p:sp>
        <p:nvSpPr>
          <p:cNvPr id="32" name="Judges look for box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3" name="Bottom line text"/>
          <p:cNvSpPr txBox="1"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Bottom line: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Villagers pay nothing. 6–8 paying customers cover costs, in a pipeline of thousands of planned sites.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iterion icon circl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3" name="Criterion icon" descr="Feasibilit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38328"/>
            <a:ext cx="201168" cy="201168"/>
          </a:xfrm>
          <a:prstGeom prst="rect">
            <a:avLst/>
          </a:prstGeom>
        </p:spPr>
      </p:pic>
      <p:sp>
        <p:nvSpPr>
          <p:cNvPr id="4" name="Criterion label"/>
          <p:cNvSpPr txBox="1"/>
          <p:nvPr/>
        </p:nvSpPr>
        <p:spPr>
          <a:xfrm>
            <a:off x="969264" y="2743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FEASIBILITY  ·  15%     +     SCALABILITY  ·  10%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and tested; next, a 10-site pilot in Nigeria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EVIDENCE IT WORKS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663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meters: demand in range 5 of 6 years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Exports to HOMER; open data and licences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Risk: few public meters → backtest operators first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PATH TO SCALE</a:t>
            </a:r>
            <a:endParaRPr lang="en-US" sz="1200" dirty="0"/>
          </a:p>
        </p:txBody>
      </p:sp>
      <p:sp>
        <p:nvSpPr>
          <p:cNvPr id="12" name="PILOT card"/>
          <p:cNvSpPr/>
          <p:nvPr/>
        </p:nvSpPr>
        <p:spPr>
          <a:xfrm>
            <a:off x="4937760" y="201168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5120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PILOT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12064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Nigeria: 10 sites with DARES developers</a:t>
            </a:r>
            <a:endParaRPr lang="en-US" sz="1400" dirty="0"/>
          </a:p>
        </p:txBody>
      </p:sp>
      <p:sp>
        <p:nvSpPr>
          <p:cNvPr id="15" name="Scale arrow"/>
          <p:cNvSpPr/>
          <p:nvPr/>
        </p:nvSpPr>
        <p:spPr>
          <a:xfrm>
            <a:off x="7059168" y="2697480"/>
            <a:ext cx="146304" cy="22860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16" name="EXPAND card"/>
          <p:cNvSpPr/>
          <p:nvPr/>
        </p:nvSpPr>
        <p:spPr>
          <a:xfrm>
            <a:off x="7223760" y="201168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7406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EXPAND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40664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on meters; one funder; Kenya next</a:t>
            </a:r>
            <a:endParaRPr lang="en-US" sz="1400" dirty="0"/>
          </a:p>
        </p:txBody>
      </p:sp>
      <p:sp>
        <p:nvSpPr>
          <p:cNvPr id="19" name="Scale arrow"/>
          <p:cNvSpPr/>
          <p:nvPr/>
        </p:nvSpPr>
        <p:spPr>
          <a:xfrm>
            <a:off x="9345168" y="2697480"/>
            <a:ext cx="146304" cy="22860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20" name="SCALE card"/>
          <p:cNvSpPr/>
          <p:nvPr/>
        </p:nvSpPr>
        <p:spPr>
          <a:xfrm>
            <a:off x="9509760" y="201168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9692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SCALE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969264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 countries: ~$30k/yr per country (est.), compute ~free</a:t>
            </a:r>
            <a:endParaRPr lang="en-US" sz="1400" dirty="0"/>
          </a:p>
        </p:txBody>
      </p:sp>
      <p:sp>
        <p:nvSpPr>
          <p:cNvPr id="23" name="Our ask card"/>
          <p:cNvSpPr/>
          <p:nvPr/>
        </p:nvSpPr>
        <p:spPr>
          <a:xfrm>
            <a:off x="4937760" y="3840480"/>
            <a:ext cx="6702552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4" name="Icon circle"/>
          <p:cNvSpPr/>
          <p:nvPr/>
        </p:nvSpPr>
        <p:spPr>
          <a:xfrm>
            <a:off x="5166360" y="40690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p/>
        </p:txBody>
      </p:sp>
      <p:pic>
        <p:nvPicPr>
          <p:cNvPr id="25" name="Icon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416966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76072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OUR ASK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166360" y="466344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2–3 operators' past meter data, and one RBF programme as pilot partner. They get back: tighter forecasts (cheaper debt), peer benchmarks, free reports.</a:t>
            </a:r>
            <a:endParaRPr lang="en-US" sz="1600" dirty="0"/>
          </a:p>
        </p:txBody>
      </p:sp>
      <p:sp>
        <p:nvSpPr>
          <p:cNvPr id="28" name="Judges look for box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9" name="Bottom line text"/>
          <p:cNvSpPr txBox="1"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Bottom line: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Live at lodestar-utfz.onrender.com. Partners who share meter data get tighter forecasts and cheaper debt in return.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30" name="Prototype screenshot" descr="Lodestar app: Mutwanga year-3 forecast with P90-P10 band and the real metered demand 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645920"/>
            <a:ext cx="4023360" cy="24697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lobal Energy Hackathon">
  <a:themeElements>
    <a:clrScheme name="Global Energy Hackathon">
      <a:dk1>
        <a:srgbClr val="1A2233"/>
      </a:dk1>
      <a:lt1>
        <a:srgbClr val="FFFFFF"/>
      </a:lt1>
      <a:dk2>
        <a:srgbClr val="081124"/>
      </a:dk2>
      <a:lt2>
        <a:srgbClr val="F2F5FB"/>
      </a:lt2>
      <a:accent1>
        <a:srgbClr val="E02D3C"/>
      </a:accent1>
      <a:accent2>
        <a:srgbClr val="1B315C"/>
      </a:accent2>
      <a:accent3>
        <a:srgbClr val="5A6478"/>
      </a:accent3>
      <a:accent4>
        <a:srgbClr val="C9D3E6"/>
      </a:accent4>
      <a:accent5>
        <a:srgbClr val="F2B134"/>
      </a:accent5>
      <a:accent6>
        <a:srgbClr val="2E8B57"/>
      </a:accent6>
      <a:hlink>
        <a:srgbClr val="1B315C"/>
      </a:hlink>
      <a:folHlink>
        <a:srgbClr val="5A6478"/>
      </a:folHlink>
    </a:clrScheme>
    <a:fontScheme name="Global Energy Hack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Lodestar: Brief 03 Pitch, Global Energy Hackathon 2026</dc:title>
  <dc:subject>Bankable demand forecasts for mini-grids</dc:subject>
  <dc:creator>Tushar Agarwal</dc:creator>
  <cp:lastModifiedBy>Tushar Agarwal</cp:lastModifiedBy>
  <cp:revision>1</cp:revision>
  <dcterms:created xsi:type="dcterms:W3CDTF">2026-10-25T22:45:11Z</dcterms:created>
  <dcterms:modified xsi:type="dcterms:W3CDTF">2026-10-25T22:45:11Z</dcterms:modified>
  <cp:keywords>Lodestar, mini-grid, demand forecast, P90</cp:keywords>
</cp:coreProperties>
</file>